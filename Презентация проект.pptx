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B388"/>
    <a:srgbClr val="EEECE2"/>
    <a:srgbClr val="F2D276"/>
    <a:srgbClr val="FAE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43" autoAdjust="0"/>
    <p:restoredTop sz="94660"/>
  </p:normalViewPr>
  <p:slideViewPr>
    <p:cSldViewPr snapToGrid="0">
      <p:cViewPr varScale="1">
        <p:scale>
          <a:sx n="87" d="100"/>
          <a:sy n="87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EBF2AB60-3F8C-B205-0E32-B5E61218EA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6858000"/>
          </a:xfrm>
          <a:custGeom>
            <a:avLst/>
            <a:gdLst>
              <a:gd name="connsiteX0" fmla="*/ 0 w 12188825"/>
              <a:gd name="connsiteY0" fmla="*/ 0 h 6858000"/>
              <a:gd name="connsiteX1" fmla="*/ 6080697 w 12188825"/>
              <a:gd name="connsiteY1" fmla="*/ 0 h 6858000"/>
              <a:gd name="connsiteX2" fmla="*/ 6080697 w 12188825"/>
              <a:gd name="connsiteY2" fmla="*/ 2898648 h 6858000"/>
              <a:gd name="connsiteX3" fmla="*/ 6108129 w 12188825"/>
              <a:gd name="connsiteY3" fmla="*/ 2898648 h 6858000"/>
              <a:gd name="connsiteX4" fmla="*/ 6108129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6080697" y="0"/>
                </a:lnTo>
                <a:lnTo>
                  <a:pt x="6080697" y="2898648"/>
                </a:lnTo>
                <a:lnTo>
                  <a:pt x="6108129" y="2898648"/>
                </a:lnTo>
                <a:lnTo>
                  <a:pt x="6108129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6096" y="2743200"/>
            <a:ext cx="11359806" cy="1627632"/>
          </a:xfrm>
        </p:spPr>
        <p:txBody>
          <a:bodyPr rtlCol="0" anchor="b">
            <a:noAutofit/>
          </a:bodyPr>
          <a:lstStyle>
            <a:lvl1pPr algn="ctr">
              <a:lnSpc>
                <a:spcPct val="90000"/>
              </a:lnSpc>
              <a:defRPr lang="ru-RU" sz="66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r>
              <a:rPr lang="ru-RU" dirty="0"/>
              <a:t>ЩЕЛКНИТЕ, ЧТОБЫ ИЗМЕНИТЬ СТИЛЬ ОБРАЗЦА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81039" y="4901184"/>
            <a:ext cx="9429920" cy="987552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E24B88-F571-25BB-4513-3A17217DC2E5}"/>
              </a:ext>
            </a:extLst>
          </p:cNvPr>
          <p:cNvSpPr/>
          <p:nvPr/>
        </p:nvSpPr>
        <p:spPr>
          <a:xfrm rot="5400000">
            <a:off x="4646675" y="1435605"/>
            <a:ext cx="2898648" cy="2743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1186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, объект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2AF402F-F8C6-E5B1-65C7-DFC0D8ED0878}"/>
              </a:ext>
            </a:extLst>
          </p:cNvPr>
          <p:cNvCxnSpPr>
            <a:cxnSpLocks/>
          </p:cNvCxnSpPr>
          <p:nvPr/>
        </p:nvCxnSpPr>
        <p:spPr>
          <a:xfrm>
            <a:off x="480108" y="2082800"/>
            <a:ext cx="0" cy="477520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бъект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2715" y="2326105"/>
            <a:ext cx="5452486" cy="4376447"/>
          </a:xfrm>
        </p:spPr>
        <p:txBody>
          <a:bodyPr rtlCol="0"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lang="ru-RU" sz="2400"/>
            </a:lvl1pPr>
            <a:lvl2pPr>
              <a:defRPr lang="ru-RU" sz="2000"/>
            </a:lvl2pPr>
            <a:lvl3pPr>
              <a:defRPr lang="ru-RU" sz="2000"/>
            </a:lvl3pPr>
            <a:lvl4pPr>
              <a:defRPr lang="ru-RU" sz="2000"/>
            </a:lvl4pPr>
            <a:lvl5pPr>
              <a:defRPr lang="ru-RU" sz="2000"/>
            </a:lvl5pPr>
          </a:lstStyle>
          <a:p>
            <a:pPr lvl="0" rtl="0"/>
            <a:r>
              <a:rPr lang="ru-RU" dirty="0"/>
              <a:t>Образец текста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15" y="978568"/>
            <a:ext cx="5726686" cy="1086603"/>
          </a:xfrm>
        </p:spPr>
        <p:txBody>
          <a:bodyPr rtlCol="0"/>
          <a:lstStyle>
            <a:defPPr>
              <a:defRPr lang="ru-RU"/>
            </a:defPPr>
            <a:lvl1pPr>
              <a:defRPr sz="3600"/>
            </a:lvl1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045201" y="0"/>
            <a:ext cx="61467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2" descr="Picture background">
            <a:extLst>
              <a:ext uri="{FF2B5EF4-FFF2-40B4-BE49-F238E27FC236}">
                <a16:creationId xmlns:a16="http://schemas.microsoft.com/office/drawing/2014/main" id="{337A43F0-B544-449F-BF51-DBFAB1FE681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8" r="19688"/>
          <a:stretch/>
        </p:blipFill>
        <p:spPr bwMode="auto">
          <a:xfrm>
            <a:off x="0" y="-108035"/>
            <a:ext cx="924945" cy="108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612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283677"/>
            <a:ext cx="12192000" cy="5574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 lang="ru-RU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426" y="1617785"/>
            <a:ext cx="11086160" cy="4783015"/>
          </a:xfrm>
        </p:spPr>
        <p:txBody>
          <a:bodyPr rtlCol="0"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lang="ru-RU" sz="2400"/>
            </a:lvl1pPr>
            <a:lvl2pPr>
              <a:defRPr lang="ru-RU" sz="2000"/>
            </a:lvl2pPr>
            <a:lvl3pPr>
              <a:defRPr lang="ru-RU" sz="2000"/>
            </a:lvl3pPr>
            <a:lvl4pPr>
              <a:defRPr lang="ru-RU" sz="2000"/>
            </a:lvl4pPr>
            <a:lvl5pPr>
              <a:defRPr lang="ru-RU" sz="2000"/>
            </a:lvl5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196DA-ED88-0EDC-A28F-7426416C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8388"/>
            <a:ext cx="12192000" cy="995289"/>
          </a:xfrm>
        </p:spPr>
        <p:txBody>
          <a:bodyPr rtlCol="0"/>
          <a:lstStyle>
            <a:lvl1pPr algn="ctr">
              <a:defRPr lang="ru-RU" sz="40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89161378-2D4C-4009-BA20-5E01145E2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8" r="19688"/>
          <a:stretch/>
        </p:blipFill>
        <p:spPr bwMode="auto">
          <a:xfrm>
            <a:off x="0" y="-108035"/>
            <a:ext cx="924945" cy="108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72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283677"/>
            <a:ext cx="12192000" cy="55743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 lang="ru-RU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842" y="2590705"/>
            <a:ext cx="4490627" cy="3882189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ru-RU" sz="2400"/>
            </a:lvl1pPr>
            <a:lvl2pPr>
              <a:defRPr lang="ru-RU" sz="2000"/>
            </a:lvl2pPr>
            <a:lvl3pPr>
              <a:defRPr lang="ru-RU" sz="2000"/>
            </a:lvl3pPr>
            <a:lvl4pPr>
              <a:defRPr lang="ru-RU" sz="2000"/>
            </a:lvl4pPr>
            <a:lvl5pPr>
              <a:defRPr lang="ru-RU" sz="2000"/>
            </a:lvl5pPr>
          </a:lstStyle>
          <a:p>
            <a:pPr lvl="0" rt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196DA-ED88-0EDC-A28F-7426416C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8388"/>
            <a:ext cx="12192000" cy="995289"/>
          </a:xfrm>
        </p:spPr>
        <p:txBody>
          <a:bodyPr rtlCol="0"/>
          <a:lstStyle>
            <a:lvl1pPr algn="ctr">
              <a:defRPr lang="ru-RU" sz="40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89161378-2D4C-4009-BA20-5E01145E2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8" r="19688"/>
          <a:stretch/>
        </p:blipFill>
        <p:spPr bwMode="auto">
          <a:xfrm>
            <a:off x="0" y="-108035"/>
            <a:ext cx="924945" cy="108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56A15AC-897D-4E64-964F-69FB8AB3C610}"/>
              </a:ext>
            </a:extLst>
          </p:cNvPr>
          <p:cNvSpPr/>
          <p:nvPr userDrawn="1"/>
        </p:nvSpPr>
        <p:spPr>
          <a:xfrm>
            <a:off x="729300" y="1504102"/>
            <a:ext cx="4780548" cy="938273"/>
          </a:xfrm>
          <a:prstGeom prst="roundRect">
            <a:avLst/>
          </a:prstGeom>
          <a:solidFill>
            <a:srgbClr val="F2D2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A54F57D-4D11-4AF3-BC49-5245FAD57B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74842" y="1660881"/>
            <a:ext cx="4490626" cy="690180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98F6285A-5FB7-4D5F-B506-345DC2432F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686754" y="2591323"/>
            <a:ext cx="4490627" cy="3882189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ru-RU" sz="2400"/>
            </a:lvl1pPr>
            <a:lvl2pPr>
              <a:defRPr lang="ru-RU" sz="2000"/>
            </a:lvl2pPr>
            <a:lvl3pPr>
              <a:defRPr lang="ru-RU" sz="2000"/>
            </a:lvl3pPr>
            <a:lvl4pPr>
              <a:defRPr lang="ru-RU" sz="2000"/>
            </a:lvl4pPr>
            <a:lvl5pPr>
              <a:defRPr lang="ru-RU" sz="2000"/>
            </a:lvl5pPr>
          </a:lstStyle>
          <a:p>
            <a:pPr lvl="0" rt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5722002-4332-4803-9CF4-C712A71451E4}"/>
              </a:ext>
            </a:extLst>
          </p:cNvPr>
          <p:cNvSpPr/>
          <p:nvPr userDrawn="1"/>
        </p:nvSpPr>
        <p:spPr>
          <a:xfrm>
            <a:off x="6541212" y="1504720"/>
            <a:ext cx="4780548" cy="938273"/>
          </a:xfrm>
          <a:prstGeom prst="roundRect">
            <a:avLst/>
          </a:prstGeom>
          <a:solidFill>
            <a:srgbClr val="F2D2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A3260203-C435-410F-BC3A-A8E475A052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86754" y="1661499"/>
            <a:ext cx="4490626" cy="690180"/>
          </a:xfrm>
        </p:spPr>
        <p:txBody>
          <a:bodyPr/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9821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, два объекта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356722" cy="6858000"/>
          </a:xfr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79896" y="2862072"/>
            <a:ext cx="7399423" cy="1572768"/>
          </a:xfrm>
        </p:spPr>
        <p:txBody>
          <a:bodyPr rtlCol="0">
            <a:normAutofit/>
          </a:bodyPr>
          <a:lstStyle>
            <a:lvl1pPr>
              <a:defRPr lang="ru-RU" sz="1600"/>
            </a:lvl1pPr>
            <a:lvl2pPr>
              <a:defRPr lang="ru-RU" sz="1600"/>
            </a:lvl2pPr>
            <a:lvl3pPr>
              <a:defRPr lang="ru-RU" sz="1600"/>
            </a:lvl3pPr>
            <a:lvl4pPr>
              <a:defRPr lang="ru-RU" sz="1600"/>
            </a:lvl4pPr>
            <a:lvl5pPr>
              <a:defRPr lang="ru-RU"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9896" y="640080"/>
            <a:ext cx="7399423" cy="1773936"/>
          </a:xfrm>
        </p:spPr>
        <p:txBody>
          <a:bodyPr rtlCol="0" anchor="t" anchorCtr="0"/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Объект 8">
            <a:extLst>
              <a:ext uri="{FF2B5EF4-FFF2-40B4-BE49-F238E27FC236}">
                <a16:creationId xmlns:a16="http://schemas.microsoft.com/office/drawing/2014/main" id="{D5E17843-7672-6C71-1608-D794830CE8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61604" y="4846320"/>
            <a:ext cx="7399423" cy="1170432"/>
          </a:xfrm>
        </p:spPr>
        <p:txBody>
          <a:bodyPr rtlCol="0">
            <a:noAutofit/>
          </a:bodyPr>
          <a:lstStyle>
            <a:lvl1pPr>
              <a:spcBef>
                <a:spcPts val="1200"/>
              </a:spcBef>
              <a:defRPr lang="ru-RU" sz="1200"/>
            </a:lvl1pPr>
            <a:lvl2pPr>
              <a:spcBef>
                <a:spcPts val="1200"/>
              </a:spcBef>
              <a:defRPr lang="ru-RU" sz="1200"/>
            </a:lvl2pPr>
            <a:lvl3pPr>
              <a:spcBef>
                <a:spcPts val="1200"/>
              </a:spcBef>
              <a:defRPr lang="ru-RU" sz="1200"/>
            </a:lvl3pPr>
            <a:lvl4pPr>
              <a:spcBef>
                <a:spcPts val="1200"/>
              </a:spcBef>
              <a:defRPr lang="ru-RU" sz="1200"/>
            </a:lvl4pPr>
            <a:lvl5pPr>
              <a:spcBef>
                <a:spcPts val="1200"/>
              </a:spcBef>
              <a:defRPr lang="ru-RU"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928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, два объекта и рисун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17722" y="0"/>
            <a:ext cx="2588426" cy="6858000"/>
          </a:xfr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247" y="2679192"/>
            <a:ext cx="7243934" cy="1170432"/>
          </a:xfrm>
        </p:spPr>
        <p:txBody>
          <a:bodyPr rtlCol="0">
            <a:noAutofit/>
          </a:bodyPr>
          <a:lstStyle>
            <a:lvl1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47" y="640080"/>
            <a:ext cx="6859786" cy="1700784"/>
          </a:xfrm>
        </p:spPr>
        <p:txBody>
          <a:bodyPr rtlCol="0"/>
          <a:lstStyle>
            <a:lvl1pPr>
              <a:defRPr lang="ru-RU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Объект 8">
            <a:extLst>
              <a:ext uri="{FF2B5EF4-FFF2-40B4-BE49-F238E27FC236}">
                <a16:creationId xmlns:a16="http://schemas.microsoft.com/office/drawing/2014/main" id="{7856CD97-B46D-FEB2-B35C-2890C62DB5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247" y="4059936"/>
            <a:ext cx="7243934" cy="2130552"/>
          </a:xfrm>
        </p:spPr>
        <p:txBody>
          <a:bodyPr rtlCol="0">
            <a:normAutofit/>
          </a:bodyPr>
          <a:lstStyle>
            <a:lvl1pPr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buClr>
                <a:schemeClr val="accent2">
                  <a:lumMod val="20000"/>
                  <a:lumOff val="80000"/>
                </a:schemeClr>
              </a:buClr>
              <a:defRPr lang="ru-RU"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43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8157CF4D-A5B0-F63D-3033-42520894BF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6858000"/>
          </a:xfrm>
          <a:custGeom>
            <a:avLst/>
            <a:gdLst>
              <a:gd name="connsiteX0" fmla="*/ 4759389 w 12188825"/>
              <a:gd name="connsiteY0" fmla="*/ 4787265 h 6858000"/>
              <a:gd name="connsiteX1" fmla="*/ 4759389 w 12188825"/>
              <a:gd name="connsiteY1" fmla="*/ 4814697 h 6858000"/>
              <a:gd name="connsiteX2" fmla="*/ 7429437 w 12188825"/>
              <a:gd name="connsiteY2" fmla="*/ 4814697 h 6858000"/>
              <a:gd name="connsiteX3" fmla="*/ 7429437 w 12188825"/>
              <a:gd name="connsiteY3" fmla="*/ 4787265 h 6858000"/>
              <a:gd name="connsiteX4" fmla="*/ 0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4759389" y="4787265"/>
                </a:moveTo>
                <a:lnTo>
                  <a:pt x="4759389" y="4814697"/>
                </a:lnTo>
                <a:lnTo>
                  <a:pt x="7429437" y="4814697"/>
                </a:lnTo>
                <a:lnTo>
                  <a:pt x="7429437" y="4787265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6096" y="3657600"/>
            <a:ext cx="11359806" cy="941832"/>
          </a:xfrm>
        </p:spPr>
        <p:txBody>
          <a:bodyPr rtlCol="0" anchor="t">
            <a:normAutofit/>
          </a:bodyPr>
          <a:lstStyle>
            <a:lvl1pPr algn="ctr">
              <a:lnSpc>
                <a:spcPct val="90000"/>
              </a:lnSpc>
              <a:defRPr lang="ru-RU" sz="48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r>
              <a:rPr lang="ru-RU" dirty="0"/>
              <a:t>ЩЕЛКНИТЕ, ЧТОБЫ ИЗМЕНИТЬ СТИЛЬ ОБРАЗЦА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81039" y="5129784"/>
            <a:ext cx="9429920" cy="987552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DC6E071-6E0A-A6A5-AC43-072450B96555}"/>
              </a:ext>
            </a:extLst>
          </p:cNvPr>
          <p:cNvSpPr/>
          <p:nvPr/>
        </p:nvSpPr>
        <p:spPr>
          <a:xfrm>
            <a:off x="4760627" y="4787265"/>
            <a:ext cx="2670744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54473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6CCC78F-07A7-7F5C-E67F-2CFC846E0DE1}"/>
              </a:ext>
            </a:extLst>
          </p:cNvPr>
          <p:cNvSpPr/>
          <p:nvPr/>
        </p:nvSpPr>
        <p:spPr>
          <a:xfrm>
            <a:off x="3814041" y="612648"/>
            <a:ext cx="7637229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800" dirty="0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D7FFB3F-B685-7C31-5080-632B0441EA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908576" cy="6858000"/>
          </a:xfrm>
          <a:custGeom>
            <a:avLst/>
            <a:gdLst>
              <a:gd name="connsiteX0" fmla="*/ 0 w 8906256"/>
              <a:gd name="connsiteY0" fmla="*/ 0 h 6858000"/>
              <a:gd name="connsiteX1" fmla="*/ 8906256 w 8906256"/>
              <a:gd name="connsiteY1" fmla="*/ 0 h 6858000"/>
              <a:gd name="connsiteX2" fmla="*/ 8906256 w 8906256"/>
              <a:gd name="connsiteY2" fmla="*/ 612648 h 6858000"/>
              <a:gd name="connsiteX3" fmla="*/ 4945285 w 8906256"/>
              <a:gd name="connsiteY3" fmla="*/ 612648 h 6858000"/>
              <a:gd name="connsiteX4" fmla="*/ 3813048 w 8906256"/>
              <a:gd name="connsiteY4" fmla="*/ 612648 h 6858000"/>
              <a:gd name="connsiteX5" fmla="*/ 3813048 w 8906256"/>
              <a:gd name="connsiteY5" fmla="*/ 6099048 h 6858000"/>
              <a:gd name="connsiteX6" fmla="*/ 4945285 w 8906256"/>
              <a:gd name="connsiteY6" fmla="*/ 6099048 h 6858000"/>
              <a:gd name="connsiteX7" fmla="*/ 8906256 w 8906256"/>
              <a:gd name="connsiteY7" fmla="*/ 6099048 h 6858000"/>
              <a:gd name="connsiteX8" fmla="*/ 8906256 w 8906256"/>
              <a:gd name="connsiteY8" fmla="*/ 6858000 h 6858000"/>
              <a:gd name="connsiteX9" fmla="*/ 0 w 8906256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06256" h="6858000">
                <a:moveTo>
                  <a:pt x="0" y="0"/>
                </a:moveTo>
                <a:lnTo>
                  <a:pt x="8906256" y="0"/>
                </a:lnTo>
                <a:lnTo>
                  <a:pt x="8906256" y="612648"/>
                </a:lnTo>
                <a:lnTo>
                  <a:pt x="4945285" y="612648"/>
                </a:lnTo>
                <a:lnTo>
                  <a:pt x="3813048" y="612648"/>
                </a:lnTo>
                <a:lnTo>
                  <a:pt x="3813048" y="6099048"/>
                </a:lnTo>
                <a:lnTo>
                  <a:pt x="4945285" y="6099048"/>
                </a:lnTo>
                <a:lnTo>
                  <a:pt x="8906256" y="6099048"/>
                </a:lnTo>
                <a:lnTo>
                  <a:pt x="89062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1A4DAAA-F386-CC30-C391-320517CB5974}"/>
              </a:ext>
            </a:extLst>
          </p:cNvPr>
          <p:cNvCxnSpPr>
            <a:cxnSpLocks/>
          </p:cNvCxnSpPr>
          <p:nvPr/>
        </p:nvCxnSpPr>
        <p:spPr>
          <a:xfrm>
            <a:off x="4571603" y="3886200"/>
            <a:ext cx="68736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89B1E0A-D5BC-6920-B6F6-E799F22323B0}"/>
              </a:ext>
            </a:extLst>
          </p:cNvPr>
          <p:cNvCxnSpPr>
            <a:cxnSpLocks/>
          </p:cNvCxnSpPr>
          <p:nvPr/>
        </p:nvCxnSpPr>
        <p:spPr>
          <a:xfrm>
            <a:off x="11447666" y="3886200"/>
            <a:ext cx="744335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995" y="1389888"/>
            <a:ext cx="6329296" cy="2304288"/>
          </a:xfrm>
        </p:spPr>
        <p:txBody>
          <a:bodyPr rtlCol="0"/>
          <a:lstStyle>
            <a:lvl1pPr>
              <a:defRPr lang="ru-RU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B4A24C6E-B46B-052B-14AF-08C705E5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1731" y="3813048"/>
            <a:ext cx="2112814" cy="711200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ru-RU" sz="1600" b="1" cap="all" baseline="0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4" name="Объект 3">
            <a:extLst>
              <a:ext uri="{FF2B5EF4-FFF2-40B4-BE49-F238E27FC236}">
                <a16:creationId xmlns:a16="http://schemas.microsoft.com/office/drawing/2014/main" id="{D803DA3C-F09E-61FF-139B-50144783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1731" y="4617720"/>
            <a:ext cx="1902447" cy="1316736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ru-RU" sz="1600"/>
            </a:lvl1pPr>
            <a:lvl2pPr>
              <a:lnSpc>
                <a:spcPct val="100000"/>
              </a:lnSpc>
              <a:spcBef>
                <a:spcPts val="400"/>
              </a:spcBef>
              <a:defRPr lang="ru-RU" sz="1800"/>
            </a:lvl2pPr>
            <a:lvl3pPr>
              <a:lnSpc>
                <a:spcPct val="100000"/>
              </a:lnSpc>
              <a:spcBef>
                <a:spcPts val="400"/>
              </a:spcBef>
              <a:defRPr lang="ru-RU" sz="1600"/>
            </a:lvl3pPr>
            <a:lvl4pPr>
              <a:lnSpc>
                <a:spcPct val="100000"/>
              </a:lnSpc>
              <a:spcBef>
                <a:spcPts val="400"/>
              </a:spcBef>
              <a:defRPr lang="ru-RU" sz="1400"/>
            </a:lvl4pPr>
            <a:lvl5pPr>
              <a:lnSpc>
                <a:spcPct val="100000"/>
              </a:lnSpc>
              <a:spcBef>
                <a:spcPts val="400"/>
              </a:spcBef>
              <a:defRPr lang="ru-RU" sz="1400"/>
            </a:lvl5pPr>
            <a:lvl6pPr>
              <a:defRPr lang="ru-RU" sz="1400"/>
            </a:lvl6pPr>
            <a:lvl7pPr>
              <a:defRPr lang="ru-RU" sz="1400"/>
            </a:lvl7pPr>
            <a:lvl8pPr>
              <a:defRPr lang="ru-RU" sz="1400"/>
            </a:lvl8pPr>
            <a:lvl9pPr>
              <a:defRPr lang="ru-RU" sz="14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8D23143E-34D4-7916-690C-3BE380588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76255" y="3813048"/>
            <a:ext cx="1902447" cy="7112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ru-RU" sz="1600" b="1" cap="all" baseline="0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6" name="Объект 5">
            <a:extLst>
              <a:ext uri="{FF2B5EF4-FFF2-40B4-BE49-F238E27FC236}">
                <a16:creationId xmlns:a16="http://schemas.microsoft.com/office/drawing/2014/main" id="{6FEC2F71-3E9B-0E18-C638-41C2B0C8D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76255" y="4617720"/>
            <a:ext cx="1902447" cy="1316736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lang="ru-RU" sz="1600"/>
            </a:lvl1pPr>
            <a:lvl2pPr>
              <a:lnSpc>
                <a:spcPct val="100000"/>
              </a:lnSpc>
              <a:spcBef>
                <a:spcPts val="400"/>
              </a:spcBef>
              <a:defRPr lang="ru-RU" sz="1800"/>
            </a:lvl2pPr>
            <a:lvl3pPr>
              <a:lnSpc>
                <a:spcPct val="100000"/>
              </a:lnSpc>
              <a:spcBef>
                <a:spcPts val="400"/>
              </a:spcBef>
              <a:defRPr lang="ru-RU" sz="1600"/>
            </a:lvl3pPr>
            <a:lvl4pPr>
              <a:lnSpc>
                <a:spcPct val="100000"/>
              </a:lnSpc>
              <a:spcBef>
                <a:spcPts val="400"/>
              </a:spcBef>
              <a:defRPr lang="ru-RU" sz="1400"/>
            </a:lvl4pPr>
            <a:lvl5pPr>
              <a:lnSpc>
                <a:spcPct val="100000"/>
              </a:lnSpc>
              <a:spcBef>
                <a:spcPts val="400"/>
              </a:spcBef>
              <a:defRPr lang="ru-RU" sz="1400"/>
            </a:lvl5pPr>
            <a:lvl6pPr>
              <a:defRPr lang="ru-RU" sz="1400"/>
            </a:lvl6pPr>
            <a:lvl7pPr>
              <a:defRPr lang="ru-RU" sz="1400"/>
            </a:lvl7pPr>
            <a:lvl8pPr>
              <a:defRPr lang="ru-RU" sz="1400"/>
            </a:lvl8pPr>
            <a:lvl9pPr>
              <a:defRPr lang="ru-RU" sz="14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6527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14638" y="1444752"/>
            <a:ext cx="10362851" cy="4416552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00000"/>
              </a:lnSpc>
              <a:defRPr lang="ru-RU" sz="4000" b="0" cap="none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45765" y="5495544"/>
            <a:ext cx="4495383" cy="484632"/>
          </a:xfrm>
        </p:spPr>
        <p:txBody>
          <a:bodyPr rtlCol="0" anchor="t">
            <a:noAutofit/>
          </a:bodyPr>
          <a:lstStyle>
            <a:lvl1pPr marL="0" indent="0" algn="l">
              <a:spcBef>
                <a:spcPts val="0"/>
              </a:spcBef>
              <a:buNone/>
              <a:defRPr lang="ru-RU"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7B62AAD-BDB5-5645-A722-E6A8180BB714}"/>
              </a:ext>
            </a:extLst>
          </p:cNvPr>
          <p:cNvCxnSpPr>
            <a:cxnSpLocks/>
          </p:cNvCxnSpPr>
          <p:nvPr/>
        </p:nvCxnSpPr>
        <p:spPr>
          <a:xfrm>
            <a:off x="7620397" y="6172200"/>
            <a:ext cx="4571604" cy="0"/>
          </a:xfrm>
          <a:prstGeom prst="line">
            <a:avLst/>
          </a:prstGeom>
          <a:ln w="254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528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CD3C4F48-5124-C46E-5828-45F6F65E000F}"/>
              </a:ext>
            </a:extLst>
          </p:cNvPr>
          <p:cNvCxnSpPr>
            <a:cxnSpLocks/>
          </p:cNvCxnSpPr>
          <p:nvPr/>
        </p:nvCxnSpPr>
        <p:spPr>
          <a:xfrm>
            <a:off x="1" y="6400800"/>
            <a:ext cx="12192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6382" y="0"/>
            <a:ext cx="2588426" cy="6858000"/>
          </a:xfr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467" y="2414016"/>
            <a:ext cx="7015275" cy="3374136"/>
          </a:xfrm>
        </p:spPr>
        <p:txBody>
          <a:bodyPr rtlCol="0"/>
          <a:lstStyle>
            <a:lvl1pPr>
              <a:defRPr lang="ru-RU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62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9419" y="0"/>
            <a:ext cx="4472581" cy="6858000"/>
          </a:xfrm>
          <a:solidFill>
            <a:schemeClr val="accent1"/>
          </a:solidFill>
        </p:spPr>
        <p:txBody>
          <a:bodyPr rtlCol="0" anchor="t">
            <a:noAutofit/>
          </a:bodyPr>
          <a:lstStyle>
            <a:lvl1pPr marL="0" indent="0" algn="ctr">
              <a:buNone/>
              <a:defRPr lang="ru-RU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247" y="3172968"/>
            <a:ext cx="5103681" cy="2029968"/>
          </a:xfrm>
        </p:spPr>
        <p:txBody>
          <a:bodyPr rtlCol="0">
            <a:noAutofit/>
          </a:bodyPr>
          <a:lstStyle>
            <a:lvl1pPr>
              <a:defRPr lang="ru-RU" sz="1600"/>
            </a:lvl1pPr>
            <a:lvl2pPr>
              <a:defRPr lang="ru-RU" sz="1600"/>
            </a:lvl2pPr>
            <a:lvl3pPr>
              <a:defRPr lang="ru-RU" sz="1600"/>
            </a:lvl3pPr>
            <a:lvl4pPr>
              <a:defRPr lang="ru-RU" sz="1600"/>
            </a:lvl4pPr>
            <a:lvl5pPr>
              <a:defRPr lang="ru-RU"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47" y="640080"/>
            <a:ext cx="6859786" cy="1700784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20058072-A976-BB1B-E73B-039CA4102FD7}"/>
              </a:ext>
            </a:extLst>
          </p:cNvPr>
          <p:cNvCxnSpPr>
            <a:cxnSpLocks/>
          </p:cNvCxnSpPr>
          <p:nvPr/>
        </p:nvCxnSpPr>
        <p:spPr>
          <a:xfrm flipH="1">
            <a:off x="0" y="2667000"/>
            <a:ext cx="7724701" cy="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бъект 8">
            <a:extLst>
              <a:ext uri="{FF2B5EF4-FFF2-40B4-BE49-F238E27FC236}">
                <a16:creationId xmlns:a16="http://schemas.microsoft.com/office/drawing/2014/main" id="{A65D0A25-C9DB-7306-466C-DFD2401F85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04305" y="3172968"/>
            <a:ext cx="3256112" cy="2688336"/>
          </a:xfrm>
        </p:spPr>
        <p:txBody>
          <a:bodyPr lIns="91440" tIns="0" rtlCol="0">
            <a:noAutofit/>
          </a:bodyPr>
          <a:lstStyle>
            <a:lvl1pPr marL="0" indent="0">
              <a:buNone/>
              <a:defRPr lang="ru-RU" sz="2400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0" indent="0">
              <a:spcBef>
                <a:spcPts val="1800"/>
              </a:spcBef>
              <a:buNone/>
              <a:defRPr lang="ru-RU"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defRPr lang="ru-RU" sz="1600"/>
            </a:lvl3pPr>
            <a:lvl4pPr>
              <a:defRPr lang="ru-RU" sz="1600"/>
            </a:lvl4pPr>
            <a:lvl5pPr>
              <a:defRPr lang="ru-RU"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8770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3DE998D3-1DC1-ED0C-84CE-D3710A6AE4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0 w 12188825"/>
              <a:gd name="connsiteY0" fmla="*/ 0 h 6858000"/>
              <a:gd name="connsiteX1" fmla="*/ 4341813 w 12188825"/>
              <a:gd name="connsiteY1" fmla="*/ 0 h 6858000"/>
              <a:gd name="connsiteX2" fmla="*/ 4341813 w 12188825"/>
              <a:gd name="connsiteY2" fmla="*/ 4745736 h 6858000"/>
              <a:gd name="connsiteX3" fmla="*/ 4369245 w 12188825"/>
              <a:gd name="connsiteY3" fmla="*/ 4745736 h 6858000"/>
              <a:gd name="connsiteX4" fmla="*/ 4369245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4341813" y="0"/>
                </a:lnTo>
                <a:lnTo>
                  <a:pt x="4341813" y="4745736"/>
                </a:lnTo>
                <a:lnTo>
                  <a:pt x="4369245" y="4745736"/>
                </a:lnTo>
                <a:lnTo>
                  <a:pt x="4369245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ru-RU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0248" y="640080"/>
            <a:ext cx="3201234" cy="2084832"/>
          </a:xfrm>
        </p:spPr>
        <p:txBody>
          <a:bodyPr rtlCol="0" anchor="t">
            <a:noAutofit/>
          </a:bodyPr>
          <a:lstStyle>
            <a:lvl1pPr algn="l">
              <a:lnSpc>
                <a:spcPct val="90000"/>
              </a:lnSpc>
              <a:defRPr lang="ru-RU" sz="48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5CAA1D0-9CC9-4F01-19B8-029FF0FF1254}"/>
              </a:ext>
            </a:extLst>
          </p:cNvPr>
          <p:cNvSpPr/>
          <p:nvPr/>
        </p:nvSpPr>
        <p:spPr>
          <a:xfrm rot="5400000">
            <a:off x="1983796" y="2359149"/>
            <a:ext cx="4745736" cy="2743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1800" dirty="0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35D20188-2858-4017-16C7-8D8B2EB783A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5023" y="850260"/>
            <a:ext cx="2277449" cy="711200"/>
          </a:xfrm>
        </p:spPr>
        <p:txBody>
          <a:bodyPr rtlCol="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ru-RU" sz="2400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0" name="Объект 3">
            <a:extLst>
              <a:ext uri="{FF2B5EF4-FFF2-40B4-BE49-F238E27FC236}">
                <a16:creationId xmlns:a16="http://schemas.microsoft.com/office/drawing/2014/main" id="{3351FF95-77DF-46F6-7673-71454E42D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5023" y="1380612"/>
            <a:ext cx="2277449" cy="1316736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lang="ru-RU"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defRPr lang="ru-RU" sz="1800"/>
            </a:lvl2pPr>
            <a:lvl3pPr>
              <a:lnSpc>
                <a:spcPct val="100000"/>
              </a:lnSpc>
              <a:spcBef>
                <a:spcPts val="400"/>
              </a:spcBef>
              <a:defRPr lang="ru-RU" sz="1600"/>
            </a:lvl3pPr>
            <a:lvl4pPr>
              <a:lnSpc>
                <a:spcPct val="100000"/>
              </a:lnSpc>
              <a:spcBef>
                <a:spcPts val="400"/>
              </a:spcBef>
              <a:defRPr lang="ru-RU" sz="1400"/>
            </a:lvl4pPr>
            <a:lvl5pPr>
              <a:lnSpc>
                <a:spcPct val="100000"/>
              </a:lnSpc>
              <a:spcBef>
                <a:spcPts val="400"/>
              </a:spcBef>
              <a:defRPr lang="ru-RU" sz="1400"/>
            </a:lvl5pPr>
            <a:lvl6pPr>
              <a:defRPr lang="ru-RU" sz="1400"/>
            </a:lvl6pPr>
            <a:lvl7pPr>
              <a:defRPr lang="ru-RU" sz="1400"/>
            </a:lvl7pPr>
            <a:lvl8pPr>
              <a:defRPr lang="ru-RU" sz="1400"/>
            </a:lvl8pPr>
            <a:lvl9pPr>
              <a:defRPr lang="ru-RU" sz="14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585749F-5840-3B72-40A1-A68404430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5023" y="2807076"/>
            <a:ext cx="2277449" cy="711200"/>
          </a:xfrm>
        </p:spPr>
        <p:txBody>
          <a:bodyPr rtlCol="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ru-RU" sz="2400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2" name="Объект 5">
            <a:extLst>
              <a:ext uri="{FF2B5EF4-FFF2-40B4-BE49-F238E27FC236}">
                <a16:creationId xmlns:a16="http://schemas.microsoft.com/office/drawing/2014/main" id="{AA075B67-81C5-7714-2DF6-B942F8060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5023" y="3291708"/>
            <a:ext cx="2277449" cy="1316736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lang="ru-RU"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defRPr lang="ru-RU" sz="1800"/>
            </a:lvl2pPr>
            <a:lvl3pPr>
              <a:lnSpc>
                <a:spcPct val="100000"/>
              </a:lnSpc>
              <a:spcBef>
                <a:spcPts val="400"/>
              </a:spcBef>
              <a:defRPr lang="ru-RU" sz="1600"/>
            </a:lvl3pPr>
            <a:lvl4pPr>
              <a:lnSpc>
                <a:spcPct val="100000"/>
              </a:lnSpc>
              <a:spcBef>
                <a:spcPts val="400"/>
              </a:spcBef>
              <a:defRPr lang="ru-RU" sz="1400"/>
            </a:lvl4pPr>
            <a:lvl5pPr>
              <a:lnSpc>
                <a:spcPct val="100000"/>
              </a:lnSpc>
              <a:spcBef>
                <a:spcPts val="400"/>
              </a:spcBef>
              <a:defRPr lang="ru-RU" sz="1400"/>
            </a:lvl5pPr>
            <a:lvl6pPr>
              <a:defRPr lang="ru-RU" sz="1400"/>
            </a:lvl6pPr>
            <a:lvl7pPr>
              <a:defRPr lang="ru-RU" sz="1400"/>
            </a:lvl7pPr>
            <a:lvl8pPr>
              <a:defRPr lang="ru-RU" sz="1400"/>
            </a:lvl8pPr>
            <a:lvl9pPr>
              <a:defRPr lang="ru-RU" sz="14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56085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ЩЕЛКНИТЕ, ЧТОБЫ ИЗМЕНИТЬ СТИЛЬ ОБРАЗЦА ЗАГОЛОВКА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8839200" y="6172200"/>
            <a:ext cx="1219201" cy="3048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fld id="{9404982C-B40F-4917-A778-73A62DDBE98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17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839200" y="6172200"/>
            <a:ext cx="1219201" cy="3048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fld id="{9404982C-B40F-4917-A778-73A62DDBE98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69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b">
            <a:noAutofit/>
          </a:bodyPr>
          <a:lstStyle>
            <a:lvl1pPr algn="l">
              <a:defRPr lang="ru-RU" sz="4400" b="0"/>
            </a:lvl1pPr>
          </a:lstStyle>
          <a:p>
            <a:pPr rtl="0"/>
            <a:r>
              <a:rPr lang="ru-RU" dirty="0"/>
              <a:t>ЩЕЛКНИТЕ, ЧТОБЫ ИЗМЕНИТЬ СТИЛЬ ЗАГОЛОВКА НА ОБРАЗЦЕ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9201" y="1803401"/>
            <a:ext cx="6604001" cy="4267201"/>
          </a:xfrm>
        </p:spPr>
        <p:txBody>
          <a:bodyPr rtlCol="0">
            <a:normAutofit/>
          </a:bodyPr>
          <a:lstStyle>
            <a:lvl1pPr>
              <a:defRPr lang="ru-RU" sz="2400"/>
            </a:lvl1pPr>
            <a:lvl2pPr>
              <a:defRPr lang="ru-RU" sz="2000"/>
            </a:lvl2pPr>
            <a:lvl3pPr>
              <a:defRPr lang="ru-RU" sz="1800"/>
            </a:lvl3pPr>
            <a:lvl4pPr>
              <a:defRPr lang="ru-RU" sz="1600"/>
            </a:lvl4pPr>
            <a:lvl5pPr>
              <a:defRPr lang="ru-RU" sz="1600"/>
            </a:lvl5pPr>
            <a:lvl6pPr>
              <a:defRPr lang="ru-RU" sz="1600"/>
            </a:lvl6pPr>
            <a:lvl7pPr>
              <a:defRPr lang="ru-RU" sz="1600"/>
            </a:lvl7pPr>
            <a:lvl8pPr>
              <a:defRPr lang="ru-RU" sz="1600" baseline="0"/>
            </a:lvl8pPr>
            <a:lvl9pPr>
              <a:defRPr lang="ru-RU" sz="1600"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28000" y="1803401"/>
            <a:ext cx="2844801" cy="4267201"/>
          </a:xfrm>
        </p:spPr>
        <p:txBody>
          <a:bodyPr rtlCol="0">
            <a:normAutofit/>
          </a:bodyPr>
          <a:lstStyle>
            <a:lvl1pPr marL="0" indent="0">
              <a:spcBef>
                <a:spcPts val="1600"/>
              </a:spcBef>
              <a:buNone/>
              <a:defRPr lang="ru-RU" sz="2000"/>
            </a:lvl1pPr>
            <a:lvl2pPr marL="457200" indent="0">
              <a:buNone/>
              <a:defRPr lang="ru-RU" sz="1200"/>
            </a:lvl2pPr>
            <a:lvl3pPr marL="914400" indent="0">
              <a:buNone/>
              <a:defRPr lang="ru-RU" sz="1000"/>
            </a:lvl3pPr>
            <a:lvl4pPr marL="1371600" indent="0">
              <a:buNone/>
              <a:defRPr lang="ru-RU" sz="900"/>
            </a:lvl4pPr>
            <a:lvl5pPr marL="1828800" indent="0">
              <a:buNone/>
              <a:defRPr lang="ru-RU" sz="900"/>
            </a:lvl5pPr>
            <a:lvl6pPr marL="2286000" indent="0">
              <a:buNone/>
              <a:defRPr lang="ru-RU" sz="900"/>
            </a:lvl6pPr>
            <a:lvl7pPr marL="2743200" indent="0">
              <a:buNone/>
              <a:defRPr lang="ru-RU" sz="900"/>
            </a:lvl7pPr>
            <a:lvl8pPr marL="3200400" indent="0">
              <a:buNone/>
              <a:defRPr lang="ru-RU" sz="900"/>
            </a:lvl8pPr>
            <a:lvl9pPr marL="3657600" indent="0">
              <a:buNone/>
              <a:defRPr lang="ru-RU"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839200" y="6172200"/>
            <a:ext cx="1219201" cy="3048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fld id="{9404982C-B40F-4917-A778-73A62DDBE98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65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b">
            <a:noAutofit/>
          </a:bodyPr>
          <a:lstStyle>
            <a:lvl1pPr algn="l">
              <a:defRPr lang="ru-RU" sz="4400" b="0">
                <a:latin typeface="Book Antiqua" panose="02040602050305030304" pitchFamily="18" charset="0"/>
              </a:defRPr>
            </a:lvl1pPr>
          </a:lstStyle>
          <a:p>
            <a:pPr rtl="0"/>
            <a:r>
              <a:rPr lang="ru-RU" dirty="0"/>
              <a:t>ЩЕЛКНИТЕ, ЧТОБЫ ИЗМЕНИТЬ СТИЛЬ ЗАГОЛОВКА НА ОБРАЗЦЕ СЛАЙДА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219200" y="1803400"/>
            <a:ext cx="6604000" cy="426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>
            <a:defPPr>
              <a:defRPr lang="ru-RU"/>
            </a:defPPr>
          </a:lstStyle>
          <a:p>
            <a:pPr algn="ctr" rtl="0"/>
            <a:endParaRPr lang="ru-RU" sz="180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."/>
          <p:cNvSpPr>
            <a:spLocks noGrp="1"/>
          </p:cNvSpPr>
          <p:nvPr>
            <p:ph type="pic" idx="1"/>
          </p:nvPr>
        </p:nvSpPr>
        <p:spPr>
          <a:xfrm>
            <a:off x="1339088" y="1925320"/>
            <a:ext cx="6364224" cy="4023360"/>
          </a:xfrm>
          <a:solidFill>
            <a:schemeClr val="bg2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lang="ru-RU" sz="24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28000" y="1803401"/>
            <a:ext cx="2844801" cy="4165600"/>
          </a:xfrm>
        </p:spPr>
        <p:txBody>
          <a:bodyPr rtlCol="0">
            <a:normAutofit/>
          </a:bodyPr>
          <a:lstStyle>
            <a:lvl1pPr marL="0" indent="0">
              <a:spcBef>
                <a:spcPts val="1600"/>
              </a:spcBef>
              <a:buNone/>
              <a:defRPr lang="ru-RU" sz="24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lang="ru-RU" sz="1200"/>
            </a:lvl2pPr>
            <a:lvl3pPr marL="914400" indent="0">
              <a:buNone/>
              <a:defRPr lang="ru-RU" sz="1000"/>
            </a:lvl3pPr>
            <a:lvl4pPr marL="1371600" indent="0">
              <a:buNone/>
              <a:defRPr lang="ru-RU" sz="900"/>
            </a:lvl4pPr>
            <a:lvl5pPr marL="1828800" indent="0">
              <a:buNone/>
              <a:defRPr lang="ru-RU" sz="900"/>
            </a:lvl5pPr>
            <a:lvl6pPr marL="2286000" indent="0">
              <a:buNone/>
              <a:defRPr lang="ru-RU" sz="900"/>
            </a:lvl6pPr>
            <a:lvl7pPr marL="2743200" indent="0">
              <a:buNone/>
              <a:defRPr lang="ru-RU" sz="900"/>
            </a:lvl7pPr>
            <a:lvl8pPr marL="3200400" indent="0">
              <a:buNone/>
              <a:defRPr lang="ru-RU" sz="900"/>
            </a:lvl8pPr>
            <a:lvl9pPr marL="3657600" indent="0">
              <a:buNone/>
              <a:defRPr lang="ru-RU"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839200" y="6172200"/>
            <a:ext cx="1219201" cy="3048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fld id="{9404982C-B40F-4917-A778-73A62DDBE98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6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404982C-B40F-4917-A778-73A62DDBE985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E2DB11E3-3A66-4D46-815A-8A68E7EB023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8" r="19688"/>
          <a:stretch/>
        </p:blipFill>
        <p:spPr bwMode="auto">
          <a:xfrm>
            <a:off x="0" y="-108035"/>
            <a:ext cx="924945" cy="108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47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1" y="431800"/>
            <a:ext cx="9753600" cy="162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19201" y="2362200"/>
            <a:ext cx="9753600" cy="370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 rot="5400000">
            <a:off x="11186194" y="5413220"/>
            <a:ext cx="1298448" cy="219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ru-RU" sz="800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568585" y="6245352"/>
            <a:ext cx="548783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ru-RU" sz="30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fld id="{C1356160-2853-442A-959E-B43AC09CA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81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7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lang="ru-RU" sz="4800" kern="1200" cap="all" spc="100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50000"/>
          </a:schemeClr>
        </a:buClr>
        <a:buFont typeface="Arial" pitchFamily="34" charset="0"/>
        <a:buChar char="•"/>
        <a:defRPr lang="ru-RU" sz="24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+mn-cs" panose="020B0302020104020203" pitchFamily="34" charset="-79"/>
        </a:defRPr>
      </a:lvl1pPr>
      <a:lvl2pPr marL="54864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lang="ru-RU" sz="20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+mn-cs" panose="020B0302020104020203" pitchFamily="34" charset="-79"/>
        </a:defRPr>
      </a:lvl2pPr>
      <a:lvl3pPr marL="85039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lang="ru-RU" sz="18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+mn-cs" panose="020B0302020104020203" pitchFamily="34" charset="-79"/>
        </a:defRPr>
      </a:lvl3pPr>
      <a:lvl4pPr marL="115214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lang="ru-RU" sz="16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+mn-cs" panose="020B0302020104020203" pitchFamily="34" charset="-79"/>
        </a:defRPr>
      </a:lvl4pPr>
      <a:lvl5pPr marL="1453896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lang="ru-RU" sz="16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+mn-cs" panose="020B0302020104020203" pitchFamily="34" charset="-79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lang="ru-RU" sz="1600" kern="1200" baseline="0">
          <a:solidFill>
            <a:schemeClr val="tx1"/>
          </a:solidFill>
          <a:latin typeface="+mn-cs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lang="ru-RU" sz="1600" kern="1200" baseline="0">
          <a:solidFill>
            <a:schemeClr val="tx1"/>
          </a:solidFill>
          <a:latin typeface="+mn-cs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lang="ru-RU" sz="1600" kern="1200" baseline="0">
          <a:solidFill>
            <a:schemeClr val="tx1"/>
          </a:solidFill>
          <a:latin typeface="+mn-cs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lang="ru-RU" sz="1600" kern="1200" baseline="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A6DD2-4569-4DA6-B48B-14E6013AF8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000" dirty="0"/>
              <a:t>Программный продукт: Веб-сайт для кафе авторской кухни «Мастерская вкуса»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CDBEC2-EE23-47F3-886C-7100A3B62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6862" y="4315325"/>
            <a:ext cx="5005137" cy="1352885"/>
          </a:xfrm>
        </p:spPr>
        <p:txBody>
          <a:bodyPr/>
          <a:lstStyle/>
          <a:p>
            <a:pPr algn="r">
              <a:spcBef>
                <a:spcPts val="600"/>
              </a:spcBef>
            </a:pPr>
            <a:r>
              <a:rPr lang="ru-RU" sz="2000" dirty="0"/>
              <a:t>Группа: РИ-331150, </a:t>
            </a:r>
            <a:r>
              <a:rPr lang="ru-RU" sz="2000" dirty="0" err="1"/>
              <a:t>УрФУ</a:t>
            </a:r>
            <a:r>
              <a:rPr lang="ru-RU" sz="2000" dirty="0"/>
              <a:t>, ИРИТ-РТФ</a:t>
            </a:r>
          </a:p>
          <a:p>
            <a:pPr algn="r">
              <a:spcBef>
                <a:spcPts val="600"/>
              </a:spcBef>
            </a:pPr>
            <a:r>
              <a:rPr lang="ru-RU" sz="2000" dirty="0"/>
              <a:t>Студенты: </a:t>
            </a:r>
            <a:r>
              <a:rPr lang="ru-RU" sz="2000" dirty="0" err="1"/>
              <a:t>Разуев</a:t>
            </a:r>
            <a:r>
              <a:rPr lang="ru-RU" sz="2000" dirty="0"/>
              <a:t> И.Д., Мясников К.Ю., </a:t>
            </a:r>
            <a:r>
              <a:rPr lang="ru-RU" sz="2000" dirty="0" err="1"/>
              <a:t>Ремер</a:t>
            </a:r>
            <a:r>
              <a:rPr lang="ru-RU" sz="2000" dirty="0"/>
              <a:t> А.К., Устинов И.С., Хадеев Д.А., Мамонов Н.И., Коркин Д.А.</a:t>
            </a:r>
          </a:p>
          <a:p>
            <a:pPr algn="r">
              <a:spcBef>
                <a:spcPts val="600"/>
              </a:spcBef>
            </a:pPr>
            <a:r>
              <a:rPr lang="ru-RU" sz="2000" dirty="0"/>
              <a:t>Руководитель: Медведев М.А.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990BBA-44EC-43F1-A596-34280F07CF1B}"/>
              </a:ext>
            </a:extLst>
          </p:cNvPr>
          <p:cNvSpPr/>
          <p:nvPr/>
        </p:nvSpPr>
        <p:spPr>
          <a:xfrm>
            <a:off x="5552838" y="6372545"/>
            <a:ext cx="1086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Год: 2026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D796F3D-1F82-4151-A356-DA3D836CB971}"/>
              </a:ext>
            </a:extLst>
          </p:cNvPr>
          <p:cNvSpPr/>
          <p:nvPr/>
        </p:nvSpPr>
        <p:spPr>
          <a:xfrm>
            <a:off x="4398579" y="3424989"/>
            <a:ext cx="3682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Book Antiqua (Заголовки)"/>
              </a:rPr>
              <a:t> Основы веб-разработки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BB119E-2E0D-4FE1-A314-83868CFDDE93}"/>
              </a:ext>
            </a:extLst>
          </p:cNvPr>
          <p:cNvSpPr/>
          <p:nvPr/>
        </p:nvSpPr>
        <p:spPr>
          <a:xfrm>
            <a:off x="1908419" y="0"/>
            <a:ext cx="86627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Министерство образования и науки РФ Федеральное государственное автономное образовательное учреждение высшего профессионального образования «Уральский федеральный университет имени первого Президента России Б. Н. Ельцина»</a:t>
            </a:r>
          </a:p>
        </p:txBody>
      </p:sp>
    </p:spTree>
    <p:extLst>
      <p:ext uri="{BB962C8B-B14F-4D97-AF65-F5344CB8AC3E}">
        <p14:creationId xmlns:p14="http://schemas.microsoft.com/office/powerpoint/2010/main" val="351385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D1B618CF-E5F8-4CE7-B89F-0F8F499175C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/>
              <a:t>Актуальность: </a:t>
            </a:r>
            <a:r>
              <a:rPr lang="ru-RU" sz="2800" dirty="0"/>
              <a:t>Рост конкуренции в общепите, цифровизация клиентского сервиса, потребность в круглосуточном онлайн-доступе к информации и бронированию.</a:t>
            </a:r>
          </a:p>
          <a:p>
            <a:pPr marL="0" indent="0">
              <a:buNone/>
            </a:pPr>
            <a:r>
              <a:rPr lang="ru-RU" sz="2800" b="1" dirty="0"/>
              <a:t>Цель: </a:t>
            </a:r>
            <a:r>
              <a:rPr lang="ru-RU" sz="2800" dirty="0"/>
              <a:t>Создать адаптивный одностраничный сайт (SPA), который:</a:t>
            </a:r>
          </a:p>
          <a:p>
            <a:r>
              <a:rPr lang="ru-RU" sz="2800" dirty="0"/>
              <a:t>Раскрывает концепцию и меню кафе</a:t>
            </a:r>
          </a:p>
          <a:p>
            <a:r>
              <a:rPr lang="ru-RU" sz="2800" dirty="0"/>
              <a:t>Обеспечивает интуитивный интерфейс</a:t>
            </a:r>
          </a:p>
          <a:p>
            <a:r>
              <a:rPr lang="ru-RU" sz="2800" dirty="0"/>
              <a:t>Реализует онлайн-бронирование и подписку на новости</a:t>
            </a:r>
          </a:p>
          <a:p>
            <a:r>
              <a:rPr lang="ru-RU" sz="2800" dirty="0"/>
              <a:t>Корректно работает на ПК, планшетах и смартфонах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3CE0678-90D0-43DA-A49C-7A033D2C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и цель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68152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8293C7B8-4E17-422E-991F-DFD338BDD24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buClr>
                <a:srgbClr val="00B050"/>
              </a:buClr>
              <a:buSzPct val="140000"/>
              <a:buFont typeface="Wingdings" panose="05000000000000000000" pitchFamily="2" charset="2"/>
              <a:buChar char="ü"/>
            </a:pPr>
            <a:r>
              <a:rPr lang="ru-RU" dirty="0"/>
              <a:t>Проектирование структуры из 8 секций (Главная, О нас, Меню, Преимущества, Отзывы, Бронирование, Подписка, Футер)</a:t>
            </a:r>
          </a:p>
          <a:p>
            <a:pPr>
              <a:buClr>
                <a:srgbClr val="00B050"/>
              </a:buClr>
              <a:buSzPct val="140000"/>
              <a:buFont typeface="Wingdings" panose="05000000000000000000" pitchFamily="2" charset="2"/>
              <a:buChar char="ü"/>
            </a:pPr>
            <a:r>
              <a:rPr lang="ru-RU" dirty="0"/>
              <a:t>Разработка UI в фирменном стиле (кофейно-терракотовая палитра)</a:t>
            </a:r>
          </a:p>
          <a:p>
            <a:pPr>
              <a:buClr>
                <a:srgbClr val="00B050"/>
              </a:buClr>
              <a:buSzPct val="140000"/>
              <a:buFont typeface="Wingdings" panose="05000000000000000000" pitchFamily="2" charset="2"/>
              <a:buChar char="ü"/>
            </a:pPr>
            <a:r>
              <a:rPr lang="ru-RU" dirty="0"/>
              <a:t>Адаптивная вёрстка (4 </a:t>
            </a:r>
            <a:r>
              <a:rPr lang="ru-RU" dirty="0" err="1"/>
              <a:t>брейкпоинта</a:t>
            </a:r>
            <a:r>
              <a:rPr lang="ru-RU" dirty="0"/>
              <a:t>, </a:t>
            </a:r>
            <a:r>
              <a:rPr lang="ru-RU" dirty="0" err="1"/>
              <a:t>mobile-first</a:t>
            </a:r>
            <a:r>
              <a:rPr lang="ru-RU" dirty="0"/>
              <a:t>)</a:t>
            </a:r>
          </a:p>
          <a:p>
            <a:pPr>
              <a:buClr>
                <a:srgbClr val="00B050"/>
              </a:buClr>
              <a:buSzPct val="140000"/>
              <a:buFont typeface="Wingdings" panose="05000000000000000000" pitchFamily="2" charset="2"/>
              <a:buChar char="ü"/>
            </a:pPr>
            <a:r>
              <a:rPr lang="ru-RU" dirty="0"/>
              <a:t>Интерактив:</a:t>
            </a:r>
          </a:p>
          <a:p>
            <a:pPr marL="720000"/>
            <a:r>
              <a:rPr lang="ru-RU" dirty="0"/>
              <a:t>Форма бронирования с валидацией</a:t>
            </a:r>
          </a:p>
          <a:p>
            <a:pPr marL="720000"/>
            <a:r>
              <a:rPr lang="ru-RU" dirty="0"/>
              <a:t>Форма подписки на рассылку</a:t>
            </a:r>
          </a:p>
          <a:p>
            <a:pPr marL="720000"/>
            <a:r>
              <a:rPr lang="ru-RU" dirty="0"/>
              <a:t>Анимации появления при </a:t>
            </a:r>
            <a:r>
              <a:rPr lang="ru-RU" dirty="0" err="1"/>
              <a:t>скролле</a:t>
            </a:r>
            <a:endParaRPr lang="ru-RU" dirty="0"/>
          </a:p>
          <a:p>
            <a:pPr>
              <a:buClr>
                <a:srgbClr val="00B050"/>
              </a:buClr>
              <a:buSzPct val="140000"/>
              <a:buFont typeface="Wingdings" panose="05000000000000000000" pitchFamily="2" charset="2"/>
              <a:buChar char="ü"/>
            </a:pPr>
            <a:r>
              <a:rPr lang="ru-RU" dirty="0" err="1"/>
              <a:t>Кроссбраузерное</a:t>
            </a:r>
            <a:r>
              <a:rPr lang="ru-RU" dirty="0"/>
              <a:t> тестирование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7C3751C-8A40-4AA4-922A-062B579C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и функционал</a:t>
            </a:r>
          </a:p>
        </p:txBody>
      </p:sp>
    </p:spTree>
    <p:extLst>
      <p:ext uri="{BB962C8B-B14F-4D97-AF65-F5344CB8AC3E}">
        <p14:creationId xmlns:p14="http://schemas.microsoft.com/office/powerpoint/2010/main" val="177251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20117745-4FE5-453F-983F-91E284D835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842" y="2590705"/>
            <a:ext cx="4490627" cy="3167793"/>
          </a:xfrm>
        </p:spPr>
        <p:txBody>
          <a:bodyPr>
            <a:normAutofit lnSpcReduction="10000"/>
          </a:bodyPr>
          <a:lstStyle/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Header</a:t>
            </a:r>
            <a:endParaRPr lang="ru-RU" dirty="0"/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Hero</a:t>
            </a:r>
            <a:endParaRPr lang="ru-RU" dirty="0"/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About</a:t>
            </a:r>
            <a:endParaRPr lang="ru-RU" dirty="0"/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Services Grid</a:t>
            </a:r>
            <a:endParaRPr lang="ru-RU" dirty="0"/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Testimonials Slider</a:t>
            </a:r>
            <a:endParaRPr lang="ru-RU" dirty="0"/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Booking/Subscribe Forms </a:t>
            </a:r>
            <a:endParaRPr lang="ru-RU" dirty="0"/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Footer</a:t>
            </a:r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9D5516A-EE3F-4C3D-AECD-790AB50C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Клиентская архитектура (</a:t>
            </a:r>
            <a:r>
              <a:rPr lang="en-US" dirty="0"/>
              <a:t>SPA)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5687E2-DC62-4B87-A3D6-1BB2417E0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1" dirty="0"/>
              <a:t>UI-</a:t>
            </a:r>
            <a:r>
              <a:rPr lang="ru-RU" b="1" dirty="0"/>
              <a:t>компоненты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9952F0-2707-4432-A33B-9588C366B36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686754" y="2591323"/>
            <a:ext cx="4490627" cy="316779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ru-RU" dirty="0" err="1"/>
              <a:t>Navigation</a:t>
            </a:r>
            <a:r>
              <a:rPr lang="ru-RU" dirty="0"/>
              <a:t> (бургер-меню, плавный </a:t>
            </a:r>
            <a:r>
              <a:rPr lang="ru-RU" dirty="0" err="1"/>
              <a:t>скролл</a:t>
            </a:r>
            <a:r>
              <a:rPr lang="ru-RU" dirty="0"/>
              <a:t>)</a:t>
            </a:r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ru-RU" dirty="0" err="1"/>
              <a:t>Slider</a:t>
            </a:r>
            <a:r>
              <a:rPr lang="ru-RU" dirty="0"/>
              <a:t> (автопрокрутка, навигация по точкам)</a:t>
            </a:r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ru-RU" dirty="0" err="1"/>
              <a:t>Forms</a:t>
            </a:r>
            <a:r>
              <a:rPr lang="ru-RU" dirty="0"/>
              <a:t> (маски, валидация, симуляция отправки, модальные окна)</a:t>
            </a:r>
          </a:p>
          <a:p>
            <a:pPr marL="342900" indent="-342900">
              <a:buClr>
                <a:schemeClr val="bg2">
                  <a:lumMod val="90000"/>
                </a:schemeClr>
              </a:buClr>
              <a:buFont typeface="Wingdings" panose="05000000000000000000" pitchFamily="2" charset="2"/>
              <a:buChar char="Ø"/>
            </a:pPr>
            <a:r>
              <a:rPr lang="ru-RU" dirty="0" err="1"/>
              <a:t>Animations</a:t>
            </a:r>
            <a:r>
              <a:rPr lang="ru-RU" dirty="0"/>
              <a:t> (отслеживание видимости элементов)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A0F714A-D78D-4024-9F6F-0F3E6FC6D3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/>
              <a:t>JS-</a:t>
            </a:r>
            <a:r>
              <a:rPr lang="ru-RU" b="1" dirty="0"/>
              <a:t>модули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E914AE-35CD-43A4-A57A-10AB976E6539}"/>
              </a:ext>
            </a:extLst>
          </p:cNvPr>
          <p:cNvSpPr/>
          <p:nvPr/>
        </p:nvSpPr>
        <p:spPr>
          <a:xfrm>
            <a:off x="874841" y="5998142"/>
            <a:ext cx="10916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Принципы: </a:t>
            </a:r>
            <a:r>
              <a:rPr lang="ru-RU" sz="2400" dirty="0"/>
              <a:t>Модульность, реактивность, событийная модель, делегирование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05662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37447BD-9C45-41C2-8B0A-FAE5B6B6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3F609844-1B8B-43D1-A172-409893C7F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091356"/>
              </p:ext>
            </p:extLst>
          </p:nvPr>
        </p:nvGraphicFramePr>
        <p:xfrm>
          <a:off x="460248" y="1464212"/>
          <a:ext cx="11271504" cy="5105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24072">
                  <a:extLst>
                    <a:ext uri="{9D8B030D-6E8A-4147-A177-3AD203B41FA5}">
                      <a16:colId xmlns:a16="http://schemas.microsoft.com/office/drawing/2014/main" val="1062612579"/>
                    </a:ext>
                  </a:extLst>
                </a:gridCol>
                <a:gridCol w="7647432">
                  <a:extLst>
                    <a:ext uri="{9D8B030D-6E8A-4147-A177-3AD203B41FA5}">
                      <a16:colId xmlns:a16="http://schemas.microsoft.com/office/drawing/2014/main" val="3316469072"/>
                    </a:ext>
                  </a:extLst>
                </a:gridCol>
              </a:tblGrid>
              <a:tr h="515112">
                <a:tc>
                  <a:txBody>
                    <a:bodyPr/>
                    <a:lstStyle/>
                    <a:p>
                      <a:pPr marL="0" indent="0" algn="ctr"/>
                      <a:r>
                        <a:rPr lang="ru" sz="2800" b="1" dirty="0">
                          <a:solidFill>
                            <a:schemeClr val="tx1"/>
                          </a:solidFill>
                        </a:rPr>
                        <a:t>Категория</a:t>
                      </a:r>
                      <a:endParaRPr lang="ru" sz="28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ru" sz="2800" b="1" dirty="0">
                          <a:solidFill>
                            <a:schemeClr val="tx1"/>
                          </a:solidFill>
                        </a:rPr>
                        <a:t>Инструменты / Технологии</a:t>
                      </a:r>
                      <a:endParaRPr lang="ru" sz="28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80752795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101600" indent="0">
                        <a:lnSpc>
                          <a:spcPct val="100000"/>
                        </a:lnSpc>
                      </a:pPr>
                      <a:r>
                        <a:rPr lang="ru" sz="2800" b="1" dirty="0">
                          <a:solidFill>
                            <a:schemeClr val="tx1"/>
                          </a:solidFill>
                        </a:rPr>
                        <a:t>Разметка</a:t>
                      </a:r>
                      <a:endParaRPr lang="ru" sz="28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8000" marR="762000" indent="0">
                        <a:lnSpc>
                          <a:spcPct val="100000"/>
                        </a:lnSpc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HTML5 </a:t>
                      </a:r>
                      <a:r>
                        <a:rPr lang="ru" sz="2800" dirty="0">
                          <a:solidFill>
                            <a:schemeClr val="tx1"/>
                          </a:solidFill>
                        </a:rPr>
                        <a:t>(семантические теги, формы,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&lt;iframe&gt;)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8471089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101600" indent="0">
                        <a:lnSpc>
                          <a:spcPct val="100000"/>
                        </a:lnSpc>
                      </a:pPr>
                      <a:r>
                        <a:rPr lang="ru" sz="2800" b="1" dirty="0">
                          <a:solidFill>
                            <a:schemeClr val="tx1"/>
                          </a:solidFill>
                        </a:rPr>
                        <a:t>Стилизация</a:t>
                      </a:r>
                      <a:endParaRPr lang="ru" sz="28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8000" marR="762000" indent="0">
                        <a:lnSpc>
                          <a:spcPct val="100000"/>
                        </a:lnSpc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CSS3 (Variables, Flexbox/Grid, @keyframes, </a:t>
                      </a:r>
                      <a:r>
                        <a:rPr lang="ru" sz="2800" dirty="0">
                          <a:solidFill>
                            <a:schemeClr val="tx1"/>
                          </a:solidFill>
                        </a:rPr>
                        <a:t>медиа-запросы)</a:t>
                      </a:r>
                      <a:endParaRPr lang="ru" sz="28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13761036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101600" indent="0">
                        <a:lnSpc>
                          <a:spcPct val="100000"/>
                        </a:lnSpc>
                      </a:pPr>
                      <a:r>
                        <a:rPr lang="ru" sz="2800" b="1" dirty="0">
                          <a:solidFill>
                            <a:schemeClr val="tx1"/>
                          </a:solidFill>
                        </a:rPr>
                        <a:t>Логика</a:t>
                      </a:r>
                      <a:endParaRPr lang="ru" sz="28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8000" indent="0">
                        <a:lnSpc>
                          <a:spcPct val="100000"/>
                        </a:lnSpc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JavaScript ES6+ (DOM, </a:t>
                      </a:r>
                      <a:r>
                        <a:rPr lang="ru" sz="2800" dirty="0">
                          <a:solidFill>
                            <a:schemeClr val="tx1"/>
                          </a:solidFill>
                        </a:rPr>
                        <a:t>события,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lazy loading)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474192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marL="101600" indent="0">
                        <a:lnSpc>
                          <a:spcPct val="100000"/>
                        </a:lnSpc>
                      </a:pPr>
                      <a:r>
                        <a:rPr lang="ru" sz="2800" b="1" dirty="0">
                          <a:solidFill>
                            <a:schemeClr val="tx1"/>
                          </a:solidFill>
                        </a:rPr>
                        <a:t>Библиотеки</a:t>
                      </a:r>
                      <a:endParaRPr lang="ru" sz="28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8000" indent="0">
                        <a:lnSpc>
                          <a:spcPct val="100000"/>
                        </a:lnSpc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Font Awesome 6.4.0, Google Maps API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2522312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101600" indent="0">
                        <a:lnSpc>
                          <a:spcPct val="100000"/>
                        </a:lnSpc>
                      </a:pPr>
                      <a:r>
                        <a:rPr lang="ru" sz="2800" b="1" dirty="0">
                          <a:solidFill>
                            <a:schemeClr val="tx1"/>
                          </a:solidFill>
                        </a:rPr>
                        <a:t>Среда</a:t>
                      </a:r>
                      <a:endParaRPr lang="ru" sz="28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8000" indent="0">
                        <a:lnSpc>
                          <a:spcPct val="100000"/>
                        </a:lnSpc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VS Code (Live Server, Prettier, Emmet), Git/GitHub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543618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01600" indent="0">
                        <a:lnSpc>
                          <a:spcPct val="100000"/>
                        </a:lnSpc>
                      </a:pPr>
                      <a:r>
                        <a:rPr lang="ru" sz="2800" b="1" dirty="0">
                          <a:solidFill>
                            <a:schemeClr val="tx1"/>
                          </a:solidFill>
                        </a:rPr>
                        <a:t>Дизайн</a:t>
                      </a:r>
                      <a:endParaRPr lang="ru" sz="28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000" indent="0">
                        <a:lnSpc>
                          <a:spcPct val="100000"/>
                        </a:lnSpc>
                      </a:pPr>
                      <a:r>
                        <a:rPr lang="en-US" sz="2800" dirty="0" err="1">
                          <a:solidFill>
                            <a:schemeClr val="tx1"/>
                          </a:solidFill>
                        </a:rPr>
                        <a:t>Figma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(wireframes, </a:t>
                      </a:r>
                      <a:r>
                        <a:rPr lang="ru" sz="2800" dirty="0">
                          <a:solidFill>
                            <a:schemeClr val="tx1"/>
                          </a:solidFill>
                        </a:rPr>
                        <a:t>прототипы)</a:t>
                      </a:r>
                      <a:endParaRPr lang="ru" sz="28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80540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52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763F56AE-DD29-4232-A987-E77D325513B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Палитра</a:t>
            </a:r>
            <a:r>
              <a:rPr lang="ru-RU" dirty="0"/>
              <a:t>: Кофейные оттенки, терракотовые акценты, кремовый фон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Типографика: </a:t>
            </a:r>
            <a:r>
              <a:rPr lang="ru-RU" dirty="0" err="1"/>
              <a:t>Montserrat</a:t>
            </a:r>
            <a:r>
              <a:rPr lang="ru-RU" dirty="0"/>
              <a:t> (заголовки), </a:t>
            </a:r>
            <a:r>
              <a:rPr lang="ru-RU" dirty="0" err="1"/>
              <a:t>Open</a:t>
            </a:r>
            <a:r>
              <a:rPr lang="ru-RU" dirty="0"/>
              <a:t> </a:t>
            </a:r>
            <a:r>
              <a:rPr lang="ru-RU" dirty="0" err="1"/>
              <a:t>Sans</a:t>
            </a:r>
            <a:r>
              <a:rPr lang="ru-RU" dirty="0"/>
              <a:t> (основной текст), масштаб 1.333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UX-паттерны: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Конверсионные кнопки на первом экране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Минимальное число шагов до бронирования (2 клика)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Плавные </a:t>
            </a:r>
            <a:r>
              <a:rPr lang="ru-RU" dirty="0" err="1"/>
              <a:t>hover</a:t>
            </a:r>
            <a:r>
              <a:rPr lang="ru-RU" dirty="0"/>
              <a:t>-эффекты и 3D-анимации карточек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Постепенное появление контента при </a:t>
            </a:r>
            <a:r>
              <a:rPr lang="ru-RU" dirty="0" err="1"/>
              <a:t>скролле</a:t>
            </a:r>
            <a:endParaRPr lang="ru-RU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Адаптивные сетки: </a:t>
            </a:r>
            <a:r>
              <a:rPr lang="ru-RU" dirty="0" err="1"/>
              <a:t>Grid</a:t>
            </a:r>
            <a:r>
              <a:rPr lang="ru-RU" dirty="0"/>
              <a:t>/</a:t>
            </a:r>
            <a:r>
              <a:rPr lang="ru-RU" dirty="0" err="1"/>
              <a:t>Flexbox</a:t>
            </a:r>
            <a:r>
              <a:rPr lang="ru-RU" dirty="0"/>
              <a:t> + 4 точки останова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94AE1E-A6F1-404D-8113-41F7EE59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Дизайн и </a:t>
            </a:r>
            <a:r>
              <a:rPr lang="en-US" dirty="0"/>
              <a:t>UX-</a:t>
            </a:r>
            <a:r>
              <a:rPr lang="ru-RU" dirty="0"/>
              <a:t>решения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9C646F-C52E-7AAC-723F-4EB922D62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850" y="0"/>
            <a:ext cx="6153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8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6D5257A-0484-46D8-9964-46242FFBE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(</a:t>
            </a:r>
            <a:r>
              <a:rPr lang="en-US" dirty="0"/>
              <a:t>HTML / CSS / JS)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A195E2-8B1A-1A89-CD9F-F9A4483CD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366" y="1283677"/>
            <a:ext cx="6727633" cy="55743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0BF91-8718-3B22-1DFB-2D6B2CBC9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3" y="1283676"/>
            <a:ext cx="5299113" cy="557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7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CCCE5F28-CD24-497F-9A87-A04BE8EB0FF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Mobile-first </a:t>
            </a:r>
            <a:r>
              <a:rPr lang="ru-RU" dirty="0"/>
              <a:t>подход</a:t>
            </a:r>
          </a:p>
          <a:p>
            <a:pPr marL="0" indent="0">
              <a:buNone/>
            </a:pPr>
            <a:r>
              <a:rPr lang="ru-RU" b="1" dirty="0" err="1"/>
              <a:t>Брейкпоинты</a:t>
            </a:r>
            <a:r>
              <a:rPr lang="ru-RU" b="1" dirty="0"/>
              <a:t>: </a:t>
            </a:r>
            <a:r>
              <a:rPr lang="ru-RU" dirty="0"/>
              <a:t>≥1200</a:t>
            </a:r>
            <a:r>
              <a:rPr lang="en-US" dirty="0"/>
              <a:t>px (</a:t>
            </a:r>
            <a:r>
              <a:rPr lang="ru-RU" dirty="0"/>
              <a:t>ПК) | 992</a:t>
            </a:r>
            <a:r>
              <a:rPr lang="en-US" dirty="0"/>
              <a:t>px (</a:t>
            </a:r>
            <a:r>
              <a:rPr lang="ru-RU" dirty="0"/>
              <a:t>планшет альбом) | 768</a:t>
            </a:r>
            <a:r>
              <a:rPr lang="en-US" dirty="0"/>
              <a:t>px (</a:t>
            </a:r>
            <a:r>
              <a:rPr lang="ru-RU" dirty="0"/>
              <a:t>планшет портрет) | &lt;576</a:t>
            </a:r>
            <a:r>
              <a:rPr lang="en-US" dirty="0"/>
              <a:t>px (</a:t>
            </a:r>
            <a:r>
              <a:rPr lang="ru-RU" dirty="0"/>
              <a:t>смартфон)</a:t>
            </a:r>
          </a:p>
          <a:p>
            <a:pPr marL="0" indent="0">
              <a:buNone/>
            </a:pPr>
            <a:r>
              <a:rPr lang="ru-RU" b="1" dirty="0"/>
              <a:t>Оптимизация:</a:t>
            </a:r>
          </a:p>
          <a:p>
            <a:r>
              <a:rPr lang="en-US" dirty="0"/>
              <a:t>loading="lazy" </a:t>
            </a:r>
            <a:r>
              <a:rPr lang="ru-RU" dirty="0"/>
              <a:t>для изображений</a:t>
            </a:r>
          </a:p>
          <a:p>
            <a:r>
              <a:rPr lang="en-US" dirty="0"/>
              <a:t>CSS-</a:t>
            </a:r>
            <a:r>
              <a:rPr lang="ru-RU" dirty="0"/>
              <a:t>переменные вместо дублирования свойств</a:t>
            </a:r>
          </a:p>
          <a:p>
            <a:r>
              <a:rPr lang="ru-RU" dirty="0"/>
              <a:t>Отсутствие тяжёлых фреймворков → быстрая загрузка</a:t>
            </a:r>
          </a:p>
          <a:p>
            <a:pPr marL="0" indent="0">
              <a:buNone/>
            </a:pPr>
            <a:r>
              <a:rPr lang="ru-RU" b="1" dirty="0"/>
              <a:t>Доступность: </a:t>
            </a:r>
            <a:r>
              <a:rPr lang="ru-RU" dirty="0"/>
              <a:t>Семантическая вёрстка, </a:t>
            </a:r>
            <a:r>
              <a:rPr lang="en-US" dirty="0"/>
              <a:t>ARIA-</a:t>
            </a:r>
            <a:r>
              <a:rPr lang="ru-RU" dirty="0"/>
              <a:t>атрибуты, контрастная схема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11789F5-809F-4379-8B2C-60A0EAEF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Адаптивность и оптимизация</a:t>
            </a:r>
          </a:p>
        </p:txBody>
      </p:sp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B64204CD-FE48-40A3-8013-A9AC2F425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1" y="355600"/>
            <a:ext cx="6146799" cy="6146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49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068FC4B0-82C0-4C9A-8FAB-6367086D810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544219974"/>
              </p:ext>
            </p:extLst>
          </p:nvPr>
        </p:nvGraphicFramePr>
        <p:xfrm>
          <a:off x="482600" y="1617663"/>
          <a:ext cx="11067716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6832">
                  <a:extLst>
                    <a:ext uri="{9D8B030D-6E8A-4147-A177-3AD203B41FA5}">
                      <a16:colId xmlns:a16="http://schemas.microsoft.com/office/drawing/2014/main" val="763235680"/>
                    </a:ext>
                  </a:extLst>
                </a:gridCol>
                <a:gridCol w="1860884">
                  <a:extLst>
                    <a:ext uri="{9D8B030D-6E8A-4147-A177-3AD203B41FA5}">
                      <a16:colId xmlns:a16="http://schemas.microsoft.com/office/drawing/2014/main" val="889219545"/>
                    </a:ext>
                  </a:extLst>
                </a:gridCol>
              </a:tblGrid>
              <a:tr h="879625">
                <a:tc>
                  <a:txBody>
                    <a:bodyPr/>
                    <a:lstStyle/>
                    <a:p>
                      <a:r>
                        <a:rPr lang="ru-RU" sz="2800" dirty="0"/>
                        <a:t>Корректное отображение на всех типах устройств и в </a:t>
                      </a:r>
                      <a:r>
                        <a:rPr lang="ru-RU" sz="2800" dirty="0" err="1"/>
                        <a:t>Chrome</a:t>
                      </a:r>
                      <a:r>
                        <a:rPr lang="ru-RU" sz="2800" dirty="0"/>
                        <a:t>, </a:t>
                      </a:r>
                      <a:r>
                        <a:rPr lang="ru-RU" sz="2800" dirty="0" err="1"/>
                        <a:t>Firefox</a:t>
                      </a:r>
                      <a:r>
                        <a:rPr lang="ru-RU" sz="2800" dirty="0"/>
                        <a:t>, </a:t>
                      </a:r>
                      <a:r>
                        <a:rPr lang="ru-RU" sz="2800" dirty="0" err="1"/>
                        <a:t>Safari</a:t>
                      </a:r>
                      <a:r>
                        <a:rPr lang="ru-RU" sz="2800" dirty="0"/>
                        <a:t>, </a:t>
                      </a:r>
                      <a:r>
                        <a:rPr lang="ru-RU" sz="2800" dirty="0" err="1"/>
                        <a:t>Edge</a:t>
                      </a:r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5400" dirty="0">
                          <a:solidFill>
                            <a:srgbClr val="00B050"/>
                          </a:solidFill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308941"/>
                  </a:ext>
                </a:extLst>
              </a:tr>
              <a:tr h="879625">
                <a:tc>
                  <a:txBody>
                    <a:bodyPr/>
                    <a:lstStyle/>
                    <a:p>
                      <a:r>
                        <a:rPr lang="ru-RU" sz="2800" dirty="0"/>
                        <a:t>Стабильная работа интерактивных элементов (формы, слайдер, навигация)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5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332673"/>
                  </a:ext>
                </a:extLst>
              </a:tr>
              <a:tr h="879625">
                <a:tc>
                  <a:txBody>
                    <a:bodyPr/>
                    <a:lstStyle/>
                    <a:p>
                      <a:r>
                        <a:rPr lang="ru-RU" sz="2800" dirty="0"/>
                        <a:t>Успешная клиентская валидация и симуляция отправки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5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872466"/>
                  </a:ext>
                </a:extLst>
              </a:tr>
              <a:tr h="879625">
                <a:tc>
                  <a:txBody>
                    <a:bodyPr/>
                    <a:lstStyle/>
                    <a:p>
                      <a:r>
                        <a:rPr lang="ru-RU" sz="2800" dirty="0"/>
                        <a:t>Быстрая отрисовка интерфейса, плавные 60fps-анимации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5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733493"/>
                  </a:ext>
                </a:extLst>
              </a:tr>
              <a:tr h="879625">
                <a:tc>
                  <a:txBody>
                    <a:bodyPr/>
                    <a:lstStyle/>
                    <a:p>
                      <a:r>
                        <a:rPr lang="ru-RU" sz="2800" dirty="0"/>
                        <a:t>Готовность к деплою на статическом хостинге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5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108429"/>
                  </a:ext>
                </a:extLst>
              </a:tr>
            </a:tbl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AB6C04-79E5-4FDF-803D-7FBD154C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66477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0F365FA6-416B-4266-9D09-5A6BAA541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747" y="5237747"/>
            <a:ext cx="1620253" cy="16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Объект 1">
            <a:extLst>
              <a:ext uri="{FF2B5EF4-FFF2-40B4-BE49-F238E27FC236}">
                <a16:creationId xmlns:a16="http://schemas.microsoft.com/office/drawing/2014/main" id="{4035BFBB-66C3-4A82-9CD7-2A96DC7A52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426" y="1617785"/>
            <a:ext cx="11086160" cy="42215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b="1" dirty="0"/>
              <a:t>Достигнуто: </a:t>
            </a:r>
            <a:r>
              <a:rPr lang="ru-RU" sz="2800" dirty="0"/>
              <a:t>Сайт решает бизнес-задачи, сочетает эстетику, функциональность и производительность</a:t>
            </a:r>
          </a:p>
          <a:p>
            <a:pPr marL="0" indent="0">
              <a:buNone/>
            </a:pPr>
            <a:r>
              <a:rPr lang="ru-RU" sz="2800" b="1" dirty="0"/>
              <a:t>Ценность: </a:t>
            </a:r>
            <a:r>
              <a:rPr lang="ru-RU" sz="2800" dirty="0"/>
              <a:t>Снижение нагрузки на персонал, рост лояльности, укрепление цифрового бренда</a:t>
            </a:r>
          </a:p>
          <a:p>
            <a:pPr marL="0" indent="0">
              <a:buNone/>
            </a:pPr>
            <a:r>
              <a:rPr lang="ru-RU" sz="2800" b="1" dirty="0"/>
              <a:t>Перспективы:</a:t>
            </a:r>
          </a:p>
          <a:p>
            <a:pPr marL="0" indent="0">
              <a:buNone/>
            </a:pPr>
            <a:r>
              <a:rPr lang="ru-RU" sz="2800" dirty="0"/>
              <a:t>Интеграция с CRM-системой кафе</a:t>
            </a:r>
          </a:p>
          <a:p>
            <a:pPr marL="0" indent="0">
              <a:buNone/>
            </a:pPr>
            <a:r>
              <a:rPr lang="ru-RU" sz="2800" dirty="0"/>
              <a:t>Модуль онлайн-заказа (</a:t>
            </a:r>
            <a:r>
              <a:rPr lang="ru-RU" sz="2800" dirty="0" err="1"/>
              <a:t>Take</a:t>
            </a:r>
            <a:r>
              <a:rPr lang="ru-RU" sz="2800" dirty="0"/>
              <a:t> </a:t>
            </a:r>
            <a:r>
              <a:rPr lang="ru-RU" sz="2800" dirty="0" err="1"/>
              <a:t>Away</a:t>
            </a:r>
            <a:r>
              <a:rPr lang="ru-RU" sz="2800" dirty="0"/>
              <a:t>)</a:t>
            </a:r>
          </a:p>
          <a:p>
            <a:pPr marL="0" indent="0">
              <a:buNone/>
            </a:pPr>
            <a:r>
              <a:rPr lang="ru-RU" sz="2800" dirty="0"/>
              <a:t>Программа лояльности и бонусная система</a:t>
            </a:r>
          </a:p>
          <a:p>
            <a:pPr marL="0" indent="0">
              <a:buNone/>
            </a:pPr>
            <a:r>
              <a:rPr lang="ru-RU" sz="2800" dirty="0"/>
              <a:t>Подключение реального бэкенда для обработки заявок и рассылок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18C189C-E7D3-4832-82D3-DA031DC6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Выводы и направления развития</a:t>
            </a:r>
          </a:p>
        </p:txBody>
      </p:sp>
    </p:spTree>
    <p:extLst>
      <p:ext uri="{BB962C8B-B14F-4D97-AF65-F5344CB8AC3E}">
        <p14:creationId xmlns:p14="http://schemas.microsoft.com/office/powerpoint/2010/main" val="246099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21D10BA-231B-49C0-BA8B-72FF4A4789D5}"/>
              </a:ext>
            </a:extLst>
          </p:cNvPr>
          <p:cNvSpPr/>
          <p:nvPr/>
        </p:nvSpPr>
        <p:spPr>
          <a:xfrm>
            <a:off x="3721768" y="240632"/>
            <a:ext cx="8085221" cy="6464968"/>
          </a:xfrm>
          <a:prstGeom prst="roundRect">
            <a:avLst/>
          </a:prstGeom>
          <a:solidFill>
            <a:srgbClr val="EEECE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98CAF0C-6FCB-4F4D-B87F-640FC9F6F9C8}"/>
              </a:ext>
            </a:extLst>
          </p:cNvPr>
          <p:cNvSpPr/>
          <p:nvPr/>
        </p:nvSpPr>
        <p:spPr>
          <a:xfrm>
            <a:off x="3978441" y="428178"/>
            <a:ext cx="752374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Менеджер проекта</a:t>
            </a:r>
          </a:p>
          <a:p>
            <a:pPr algn="r"/>
            <a:r>
              <a:rPr lang="ru-RU" sz="2400" dirty="0" err="1"/>
              <a:t>Разуев</a:t>
            </a:r>
            <a:r>
              <a:rPr lang="ru-RU" sz="2400" dirty="0"/>
              <a:t> И.Д.</a:t>
            </a:r>
          </a:p>
          <a:p>
            <a:r>
              <a:rPr lang="ru-RU" sz="2400" b="1" dirty="0"/>
              <a:t>CSS-дизайнер / вёрстка</a:t>
            </a:r>
          </a:p>
          <a:p>
            <a:pPr algn="r"/>
            <a:r>
              <a:rPr lang="ru-RU" sz="2400" dirty="0" err="1"/>
              <a:t>Ремер</a:t>
            </a:r>
            <a:r>
              <a:rPr lang="ru-RU" sz="2400" dirty="0"/>
              <a:t> А.К.</a:t>
            </a:r>
          </a:p>
          <a:p>
            <a:r>
              <a:rPr lang="ru-RU" sz="2400" b="1" dirty="0"/>
              <a:t>Адаптивность (</a:t>
            </a:r>
            <a:r>
              <a:rPr lang="ru-RU" sz="2400" b="1" dirty="0" err="1"/>
              <a:t>responsive</a:t>
            </a:r>
            <a:r>
              <a:rPr lang="ru-RU" sz="2400" b="1" dirty="0"/>
              <a:t>)</a:t>
            </a:r>
          </a:p>
          <a:p>
            <a:pPr algn="r"/>
            <a:r>
              <a:rPr lang="ru-RU" sz="2400" dirty="0"/>
              <a:t>Устинов И.С.</a:t>
            </a:r>
          </a:p>
          <a:p>
            <a:r>
              <a:rPr lang="ru-RU" sz="2400" b="1" dirty="0"/>
              <a:t>HTML-верстальщик</a:t>
            </a:r>
          </a:p>
          <a:p>
            <a:pPr algn="r"/>
            <a:r>
              <a:rPr lang="ru-RU" sz="2400" dirty="0"/>
              <a:t>Мясников К.Ю.</a:t>
            </a:r>
          </a:p>
          <a:p>
            <a:r>
              <a:rPr lang="ru-RU" sz="2400" b="1" dirty="0"/>
              <a:t>HTML-наполнение</a:t>
            </a:r>
          </a:p>
          <a:p>
            <a:pPr algn="r"/>
            <a:r>
              <a:rPr lang="ru-RU" sz="2400" dirty="0"/>
              <a:t>Хадеев Д.А.</a:t>
            </a:r>
          </a:p>
          <a:p>
            <a:r>
              <a:rPr lang="ru-RU" sz="2400" b="1" dirty="0" err="1"/>
              <a:t>JavaScript</a:t>
            </a:r>
            <a:r>
              <a:rPr lang="ru-RU" sz="2400" b="1" dirty="0"/>
              <a:t>-логика</a:t>
            </a:r>
          </a:p>
          <a:p>
            <a:pPr algn="r"/>
            <a:r>
              <a:rPr lang="ru-RU" sz="2400" dirty="0"/>
              <a:t>Мамонов Н.И.</a:t>
            </a:r>
          </a:p>
          <a:p>
            <a:r>
              <a:rPr lang="ru-RU" sz="2400" b="1" dirty="0"/>
              <a:t>Интеграция HTML/JS</a:t>
            </a:r>
          </a:p>
          <a:p>
            <a:pPr algn="r"/>
            <a:r>
              <a:rPr lang="ru-RU" sz="2400" dirty="0"/>
              <a:t>Коркин Д.А.</a:t>
            </a:r>
          </a:p>
          <a:p>
            <a:r>
              <a:rPr lang="ru-RU" sz="2400" b="1" dirty="0"/>
              <a:t>Научный руководитель</a:t>
            </a:r>
          </a:p>
          <a:p>
            <a:pPr algn="r"/>
            <a:r>
              <a:rPr lang="ru-RU" sz="2400" dirty="0"/>
              <a:t>Медведев М.А.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7BA4A4-066F-B9CA-5039-7715A8E01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93" y="1155032"/>
            <a:ext cx="3609975" cy="1790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33270E-F0C6-EF01-D7B5-5AD5C59D5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" y="2955257"/>
            <a:ext cx="3648075" cy="18097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1CC2AF-4547-5EC1-750D-DA24B2B46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" y="4774532"/>
            <a:ext cx="3657600" cy="18859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3405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96F266A-D3D1-4F1B-AEB7-FD90F6CDD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80089"/>
            <a:ext cx="12192000" cy="238760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13972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руто тип">
  <a:themeElements>
    <a:clrScheme name="Зеленый и желтый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89">
      <a:majorFont>
        <a:latin typeface="Book Antiqua"/>
        <a:ea typeface=""/>
        <a:cs typeface=""/>
      </a:majorFont>
      <a:minorFont>
        <a:latin typeface="Calibri"/>
        <a:ea typeface=""/>
        <a:cs typeface="Calibri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руто тип" id="{D6B449EE-9DF2-4B6A-88F7-1151790A6A4C}" vid="{5357E458-935D-4C02-A0BF-A8EA5F99E4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круто тип</Template>
  <TotalTime>71</TotalTime>
  <Words>652</Words>
  <Application>Microsoft Office PowerPoint</Application>
  <PresentationFormat>Широкоэкранный</PresentationFormat>
  <Paragraphs>107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Book Antiqua</vt:lpstr>
      <vt:lpstr>Book Antiqua (Заголовки)</vt:lpstr>
      <vt:lpstr>Calibri</vt:lpstr>
      <vt:lpstr>Times New Roman</vt:lpstr>
      <vt:lpstr>Wingdings</vt:lpstr>
      <vt:lpstr>круто тип</vt:lpstr>
      <vt:lpstr>Программный продукт: Веб-сайт для кафе авторской кухни «Мастерская вкуса»</vt:lpstr>
      <vt:lpstr>Актуальность и цель проекта</vt:lpstr>
      <vt:lpstr>Задачи и функционал</vt:lpstr>
      <vt:lpstr>Клиентская архитектура (SPA)</vt:lpstr>
      <vt:lpstr>Технологический стек</vt:lpstr>
      <vt:lpstr>Дизайн и UX-решения</vt:lpstr>
      <vt:lpstr>Реализация (HTML / CSS / JS)</vt:lpstr>
      <vt:lpstr>Адаптивность и оптимизация</vt:lpstr>
      <vt:lpstr>Итоги тестирования</vt:lpstr>
      <vt:lpstr> Выводы и направления развития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Программный продукт: Веб-сайт для кафе авторской кухни «Мастерская вкуса»</dc:title>
  <dc:creator>Татьяна Митина</dc:creator>
  <cp:lastModifiedBy>Иван Разуев</cp:lastModifiedBy>
  <cp:revision>5</cp:revision>
  <dcterms:created xsi:type="dcterms:W3CDTF">2026-05-14T13:42:17Z</dcterms:created>
  <dcterms:modified xsi:type="dcterms:W3CDTF">2026-05-21T06:29:57Z</dcterms:modified>
</cp:coreProperties>
</file>